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Saira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30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Netflix Titles Analysis Report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comprehensive, data-driven analysis of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9,827 titles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spanning over a century — from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April 17, 1902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July 3, 2024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evaluating metrics, trends, and viewer engagement patterns across the Netflix library.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458"/>
            <a:ext cx="5845969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Executive Summary: Core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22449"/>
            <a:ext cx="3990008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9,827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18952" y="1769566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Total Titles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069976"/>
            <a:ext cx="39900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Spanning 1902–2024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7799" y="1136303"/>
            <a:ext cx="3990082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40.33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80633" y="1769566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Avg. Popularity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57799" y="2069976"/>
            <a:ext cx="3990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Right-skewed — most titles cluster below 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119" y="2635895"/>
            <a:ext cx="3990008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6.44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18952" y="326915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Avg. Rating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569568"/>
            <a:ext cx="39900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Rises to 6.51 when excluding 100 zero-vote placeholders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57799" y="2635895"/>
            <a:ext cx="3990082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1.39K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780633" y="326915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Avg. Vote Count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57799" y="3569568"/>
            <a:ext cx="3990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Driven by classics &amp; blockbusters with 20,000+ votes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6119" y="3945508"/>
            <a:ext cx="8151763" cy="773534"/>
          </a:xfrm>
          <a:prstGeom prst="roundRect">
            <a:avLst>
              <a:gd name="adj" fmla="val 16237"/>
            </a:avLst>
          </a:prstGeom>
          <a:solidFill>
            <a:srgbClr val="7E3202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5" y="4145384"/>
            <a:ext cx="174427" cy="13952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49598" y="4117702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Removing unreleased or unvoted titles shifts the average rating upward, providing a more accurate representation of viewer sentiment.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6D1DFC-8607-69B8-CB88-92CB7EC22DE8}"/>
              </a:ext>
            </a:extLst>
          </p:cNvPr>
          <p:cNvSpPr/>
          <p:nvPr/>
        </p:nvSpPr>
        <p:spPr>
          <a:xfrm>
            <a:off x="8070273" y="4856018"/>
            <a:ext cx="1004454" cy="2214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2846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Correlation Insights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84896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Relationships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36775"/>
            <a:ext cx="3986733" cy="51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Popularity vs. Votes (r=0.1375):</a:t>
            </a: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Very weak correlation. Popularity reflects current streaming activity; votes measure long-term engagement.</a:t>
            </a:r>
            <a:endParaRPr lang="en-US" sz="5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Popularity vs. Rating (r=0.054):</a:t>
            </a: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correlation. Trending titles don't systematically rate higher or lower.</a:t>
            </a:r>
            <a:endParaRPr lang="en-US" sz="5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Votes vs. Rating (r=0.254):</a:t>
            </a: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Weak-moderate positive. Highly-voted titles cluster in the 7.0–9.0 range; low-vote titles show extreme variance (1.0–10.0).</a:t>
            </a:r>
            <a:endParaRPr lang="en-US" sz="5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755BE-A584-E66D-6352-A059C1D05FC8}"/>
              </a:ext>
            </a:extLst>
          </p:cNvPr>
          <p:cNvSpPr/>
          <p:nvPr/>
        </p:nvSpPr>
        <p:spPr>
          <a:xfrm>
            <a:off x="8021782" y="4835236"/>
            <a:ext cx="1059873" cy="2493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388"/>
            <a:ext cx="46195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 5 Most Popular Titles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78893"/>
            <a:ext cx="2622724" cy="1709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2351" y="14852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945853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Spider-Man: No Way Home (2021)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47382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Popularity: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5,083.95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8.30 | Votes: 8,940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378893"/>
            <a:ext cx="2622724" cy="17093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833" y="14852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1410" y="19458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Batman (2022)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252365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Popularity: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3,827.66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8.10 | Votes: 1,151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378893"/>
            <a:ext cx="2622724" cy="17093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14852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5892" y="19458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Exit (2022)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252365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Popularity: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2,618.09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6.30 | Votes: 122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30017"/>
            <a:ext cx="4004965" cy="12610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13508" y="33363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56927" y="37969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Encanto (2021)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56927" y="4103489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Popularity: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2,402.20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7.70 | Votes: 5,076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3230017"/>
            <a:ext cx="4004965" cy="12610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60232" y="33363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03651" y="3796978"/>
            <a:ext cx="18219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King's Man (2021)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803651" y="4103489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Popularity: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1,895.51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7.00 | Votes: 1,793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2B5059-C442-9724-1672-980540056C2E}"/>
              </a:ext>
            </a:extLst>
          </p:cNvPr>
          <p:cNvSpPr/>
          <p:nvPr/>
        </p:nvSpPr>
        <p:spPr>
          <a:xfrm>
            <a:off x="8014856" y="4821382"/>
            <a:ext cx="1059872" cy="2669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770"/>
            <a:ext cx="633821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Most Engaged &amp; Critically Acclaimed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216372"/>
            <a:ext cx="1496467" cy="260821"/>
          </a:xfrm>
          <a:prstGeom prst="roundRect">
            <a:avLst>
              <a:gd name="adj" fmla="val 38524"/>
            </a:avLst>
          </a:prstGeom>
          <a:solidFill>
            <a:srgbClr val="4B1E01"/>
          </a:solidFill>
          <a:ln/>
        </p:spPr>
      </p:sp>
      <p:sp>
        <p:nvSpPr>
          <p:cNvPr id="4" name="Shape 2"/>
          <p:cNvSpPr/>
          <p:nvPr/>
        </p:nvSpPr>
        <p:spPr>
          <a:xfrm>
            <a:off x="579834" y="1290935"/>
            <a:ext cx="111621" cy="111621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5" name="Text 3"/>
          <p:cNvSpPr/>
          <p:nvPr/>
        </p:nvSpPr>
        <p:spPr>
          <a:xfrm>
            <a:off x="747266" y="1258193"/>
            <a:ext cx="161880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5 BY VOTE COUNT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612627"/>
            <a:ext cx="1886024" cy="6149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3745" y="1631677"/>
            <a:ext cx="168934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Inception (2010)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3745" y="1987079"/>
            <a:ext cx="16893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31,077 votes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8.40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716" y="1612627"/>
            <a:ext cx="1886099" cy="6149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12393" y="1631677"/>
            <a:ext cx="168942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Interstellar (2014)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712393" y="1987079"/>
            <a:ext cx="1689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27,975 votes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8.40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2464222"/>
            <a:ext cx="1886024" cy="8329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3745" y="2483272"/>
            <a:ext cx="1689348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Dark Knight (2008)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73745" y="3056706"/>
            <a:ext cx="16893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26,994 votes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8.50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716" y="2464222"/>
            <a:ext cx="1886099" cy="8329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12393" y="2483272"/>
            <a:ext cx="168942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Avengers (2012)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2712393" y="2838673"/>
            <a:ext cx="1689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26,490 votes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7.70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69" y="3533849"/>
            <a:ext cx="3924746" cy="61495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3745" y="355289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Deadpool (2016)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73745" y="3908301"/>
            <a:ext cx="37280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26,390 votes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Rating: 7.60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746947" y="1216372"/>
            <a:ext cx="2202656" cy="260821"/>
          </a:xfrm>
          <a:prstGeom prst="roundRect">
            <a:avLst>
              <a:gd name="adj" fmla="val 38524"/>
            </a:avLst>
          </a:prstGeom>
          <a:solidFill>
            <a:srgbClr val="4B1E01"/>
          </a:solidFill>
          <a:ln/>
        </p:spPr>
      </p:sp>
      <p:sp>
        <p:nvSpPr>
          <p:cNvPr id="22" name="Shape 15"/>
          <p:cNvSpPr/>
          <p:nvPr/>
        </p:nvSpPr>
        <p:spPr>
          <a:xfrm>
            <a:off x="4830663" y="1290935"/>
            <a:ext cx="111621" cy="111621"/>
          </a:xfrm>
          <a:prstGeom prst="rect">
            <a:avLst/>
          </a:prstGeom>
          <a:solidFill>
            <a:srgbClr val="E5E0DF"/>
          </a:solidFill>
          <a:ln/>
        </p:spPr>
      </p:sp>
      <p:sp>
        <p:nvSpPr>
          <p:cNvPr id="23" name="Text 16"/>
          <p:cNvSpPr/>
          <p:nvPr/>
        </p:nvSpPr>
        <p:spPr>
          <a:xfrm>
            <a:off x="4998095" y="1258193"/>
            <a:ext cx="232499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5 BY RATING (≥8.5, 500+ VOTES)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7897" y="1612627"/>
            <a:ext cx="1886024" cy="105444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24574" y="1631677"/>
            <a:ext cx="1689348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Godfather (1972)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924574" y="2205112"/>
            <a:ext cx="16893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Rating: </a:t>
            </a: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8.70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Votes: 15,614</a:t>
            </a:r>
            <a:endParaRPr lang="en-US" sz="10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6545" y="1612627"/>
            <a:ext cx="1886099" cy="105444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63221" y="1631677"/>
            <a:ext cx="168942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Shawshank Redemption (1994)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6963221" y="2205112"/>
            <a:ext cx="1689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Rating: </a:t>
            </a: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8.70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Votes: 20,911</a:t>
            </a:r>
            <a:endParaRPr lang="en-US" sz="10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7897" y="2903711"/>
            <a:ext cx="1886024" cy="83299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924574" y="2922761"/>
            <a:ext cx="1689348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Dilwale Dulhania Le Jayenge (1995)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4924574" y="3496196"/>
            <a:ext cx="16893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Rating: </a:t>
            </a: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8.70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Votes: 3,474</a:t>
            </a:r>
            <a:endParaRPr lang="en-US" sz="105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6545" y="2903711"/>
            <a:ext cx="1886099" cy="83299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63221" y="2922761"/>
            <a:ext cx="168942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Gabriel's Inferno Part III (2020)</a:t>
            </a:r>
            <a:endParaRPr lang="en-US" sz="1350" dirty="0"/>
          </a:p>
        </p:txBody>
      </p:sp>
      <p:sp>
        <p:nvSpPr>
          <p:cNvPr id="35" name="Text 24"/>
          <p:cNvSpPr/>
          <p:nvPr/>
        </p:nvSpPr>
        <p:spPr>
          <a:xfrm>
            <a:off x="6963221" y="3496196"/>
            <a:ext cx="1689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Rating: </a:t>
            </a: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8.60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Votes: 946</a:t>
            </a:r>
            <a:endParaRPr lang="en-US" sz="10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7897" y="3973339"/>
            <a:ext cx="3924746" cy="61495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924574" y="3992389"/>
            <a:ext cx="177232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Schindler's List (1993)</a:t>
            </a:r>
            <a:endParaRPr lang="en-US" sz="1350" dirty="0"/>
          </a:p>
        </p:txBody>
      </p:sp>
      <p:sp>
        <p:nvSpPr>
          <p:cNvPr id="38" name="Text 26"/>
          <p:cNvSpPr/>
          <p:nvPr/>
        </p:nvSpPr>
        <p:spPr>
          <a:xfrm>
            <a:off x="4924574" y="4347790"/>
            <a:ext cx="37280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Rating: </a:t>
            </a: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8.60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Votes: 12,474</a:t>
            </a:r>
            <a:endParaRPr lang="en-US" sz="10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B2A06D-7967-5AA1-C215-40304FB6A372}"/>
              </a:ext>
            </a:extLst>
          </p:cNvPr>
          <p:cNvSpPr/>
          <p:nvPr/>
        </p:nvSpPr>
        <p:spPr>
          <a:xfrm>
            <a:off x="8070273" y="4849091"/>
            <a:ext cx="997527" cy="2214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71825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Genre Deep-Dive: Volume &amp; Performance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Genre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242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Volume Leader: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Drama dominates with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3,744 titles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followed by Comedy (3,031) and Action (2,686) across 19 unique genres.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Popularity Leader: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Adventure leads at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53.74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avg. popularity, followed by Fantasy (53.08) and Animation (52.43).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Rating Leader: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History tops ratings at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6.97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followed by War (6.95) and Music (6.88).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Underperformer: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Horror has the lowest avg. rating (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5.94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despite 1,470 titles and solid popularity (38.26).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8DB28-0D38-13FF-6945-42D5772F4C7A}"/>
              </a:ext>
            </a:extLst>
          </p:cNvPr>
          <p:cNvSpPr/>
          <p:nvPr/>
        </p:nvSpPr>
        <p:spPr>
          <a:xfrm>
            <a:off x="8028709" y="4842164"/>
            <a:ext cx="1046018" cy="2493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1275"/>
            <a:ext cx="29491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Language Analysis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857845"/>
            <a:ext cx="472276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English dominates with </a:t>
            </a: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7,570 titles (~77%)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but non-English content shows strong metrics in both popularity and rating.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496119" y="1208261"/>
            <a:ext cx="4722763" cy="687660"/>
          </a:xfrm>
          <a:prstGeom prst="roundRect">
            <a:avLst>
              <a:gd name="adj" fmla="val 13046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5284" y="1317427"/>
            <a:ext cx="168949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🇮🇳</a:t>
            </a: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Hindi — Popularity Leader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5284" y="1515145"/>
            <a:ext cx="4504432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Popularity: </a:t>
            </a: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85.93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(26 titles)</a:t>
            </a:r>
            <a:endParaRPr lang="en-US" sz="7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Rating: 6.63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96119" y="1965945"/>
            <a:ext cx="4722763" cy="687660"/>
          </a:xfrm>
          <a:prstGeom prst="roundRect">
            <a:avLst>
              <a:gd name="adj" fmla="val 13046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5284" y="207511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🇹🇷</a:t>
            </a: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Turkish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5284" y="2272829"/>
            <a:ext cx="4504432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Popularity: </a:t>
            </a: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71.63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(15 titles)</a:t>
            </a:r>
            <a:endParaRPr lang="en-US" sz="7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Rating: 6.45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96119" y="2723629"/>
            <a:ext cx="4722763" cy="687660"/>
          </a:xfrm>
          <a:prstGeom prst="roundRect">
            <a:avLst>
              <a:gd name="adj" fmla="val 13046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284" y="2832795"/>
            <a:ext cx="16534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🇸🇪</a:t>
            </a: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Swedish — Rating Leader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5284" y="3030513"/>
            <a:ext cx="4504432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Rating: </a:t>
            </a: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7.02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(23 titles)</a:t>
            </a:r>
            <a:endParaRPr lang="en-US" sz="7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Popularity: 21.16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96119" y="3481313"/>
            <a:ext cx="4722763" cy="687660"/>
          </a:xfrm>
          <a:prstGeom prst="roundRect">
            <a:avLst>
              <a:gd name="adj" fmla="val 13046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284" y="359047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🇯🇵</a:t>
            </a: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Japanese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5284" y="3788197"/>
            <a:ext cx="4504432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Rating: </a:t>
            </a: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6.98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(645 titles)</a:t>
            </a:r>
            <a:endParaRPr lang="en-US" sz="7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Popularity: 40.72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96119" y="4247778"/>
            <a:ext cx="4722763" cy="454372"/>
          </a:xfrm>
          <a:prstGeom prst="roundRect">
            <a:avLst>
              <a:gd name="adj" fmla="val 19744"/>
            </a:avLst>
          </a:prstGeom>
          <a:solidFill>
            <a:srgbClr val="7E3202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59" y="4380309"/>
            <a:ext cx="124569" cy="99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19969" y="4342656"/>
            <a:ext cx="4299272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Hindi and Turkish content drive massive popularity relative to their small volume. Japanese and Swedish content earn strong critical acclaim (particularly anime for Japanese).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77613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Temporal Trends: Decade-by-Decade Growth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711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Exponential Library Growth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volume exploded from under 200 titles (pre-1960s) to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3,999 titles in the 2010s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20× increase.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ratings remained stable (~6.4–6.55) across decades, except the 2020s at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6.11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skewed by incomplete data.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2020s titles show dramatically higher avg. popularity (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107.28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due to newer releases still experiencing high search/streaming traffic.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F2BB22-BFA1-B18F-23C9-B9D760AB3C13}"/>
              </a:ext>
            </a:extLst>
          </p:cNvPr>
          <p:cNvSpPr/>
          <p:nvPr/>
        </p:nvSpPr>
        <p:spPr>
          <a:xfrm>
            <a:off x="8014855" y="4779818"/>
            <a:ext cx="1073727" cy="3117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6839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Anomaly: 2022–2024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96119" y="691678"/>
            <a:ext cx="934575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the Data Reveals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1027124"/>
            <a:ext cx="274067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collection likely cut off in early 2022. The dataset contains only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208 titles in 2022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 in 2023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in 2024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these 217 titles,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91 have exactly 0 votes and 0.0 ratings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representing upcoming or unreleased titles at time of export.</a:t>
            </a:r>
            <a:endParaRPr lang="en-US" sz="1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56737F-D407-5898-C1E5-7D234D8267E5}"/>
              </a:ext>
            </a:extLst>
          </p:cNvPr>
          <p:cNvGrpSpPr/>
          <p:nvPr/>
        </p:nvGrpSpPr>
        <p:grpSpPr>
          <a:xfrm>
            <a:off x="198246" y="4576912"/>
            <a:ext cx="4058171" cy="377726"/>
            <a:chOff x="496119" y="7314456"/>
            <a:chExt cx="4058171" cy="377726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7314456"/>
              <a:ext cx="4058171" cy="377726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14586" y="7394823"/>
              <a:ext cx="924967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Including Placeholders</a:t>
              </a:r>
              <a:endParaRPr lang="en-US" sz="65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14586" y="7526759"/>
              <a:ext cx="3859337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2022 Avg. Rating: </a:t>
              </a:r>
              <a:r>
                <a:rPr lang="en-US" sz="550" b="1" dirty="0">
                  <a:solidFill>
                    <a:srgbClr val="E5E0DF"/>
                  </a:solidFill>
                  <a:latin typeface="Roboto Bold" pitchFamily="34" charset="0"/>
                  <a:ea typeface="Roboto Bold" pitchFamily="34" charset="-122"/>
                  <a:cs typeface="Roboto Bold" pitchFamily="34" charset="-120"/>
                </a:rPr>
                <a:t>3.64</a:t>
              </a:r>
              <a:r>
                <a:rPr lang="en-US" sz="5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(artificially low)</a:t>
              </a:r>
              <a:endParaRPr lang="en-US" sz="550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229B2-A291-1185-6F27-4A6043CD1FB2}"/>
              </a:ext>
            </a:extLst>
          </p:cNvPr>
          <p:cNvSpPr/>
          <p:nvPr/>
        </p:nvSpPr>
        <p:spPr>
          <a:xfrm>
            <a:off x="7951553" y="4758533"/>
            <a:ext cx="1107233" cy="32890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A1CA3F-CBDA-45F2-DA69-2E437D31315B}"/>
              </a:ext>
            </a:extLst>
          </p:cNvPr>
          <p:cNvGrpSpPr/>
          <p:nvPr/>
        </p:nvGrpSpPr>
        <p:grpSpPr>
          <a:xfrm>
            <a:off x="4708178" y="4569670"/>
            <a:ext cx="4058171" cy="377726"/>
            <a:chOff x="4589711" y="7314456"/>
            <a:chExt cx="4058171" cy="377726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89711" y="7314456"/>
              <a:ext cx="4058171" cy="377726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4708178" y="7394823"/>
              <a:ext cx="944240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Excluding Placeholders</a:t>
              </a:r>
              <a:endParaRPr lang="en-US" sz="65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4708178" y="7526759"/>
              <a:ext cx="3859337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2022 Avg. Rating: </a:t>
              </a:r>
              <a:r>
                <a:rPr lang="en-US" sz="550" b="1" dirty="0">
                  <a:solidFill>
                    <a:srgbClr val="E5E0DF"/>
                  </a:solidFill>
                  <a:latin typeface="Roboto Bold" pitchFamily="34" charset="0"/>
                  <a:ea typeface="Roboto Bold" pitchFamily="34" charset="-122"/>
                  <a:cs typeface="Roboto Bold" pitchFamily="34" charset="-120"/>
                </a:rPr>
                <a:t>6.00</a:t>
              </a:r>
              <a:r>
                <a:rPr lang="en-US" sz="5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(normal range)</a:t>
              </a:r>
              <a:endParaRPr lang="en-US" sz="55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2" y="1644700"/>
            <a:ext cx="3296022" cy="18540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417016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3925119" y="1019175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348683" y="106479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Popularity ≠ Quality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348683" y="1347192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correlation between popularity and ratings (r=0.054). Trending titles don't rate higher — popularity is transient, not a quality signal.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925119" y="2008287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48683" y="2053903"/>
            <a:ext cx="218531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Engagement Signals Quality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348683" y="2336304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Highly-voted titles cluster in the 7.0–9.0 range (r=0.254). Widely-viewed films that stand the test of time tend to be well-regarded.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925119" y="2997398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48683" y="3043014"/>
            <a:ext cx="363743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Non-English Content Punches Above Its Weight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48683" y="3325416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Hindi and Turkish titles drive outsized popularity; Japanese and Swedish content earns top ratings — strong niche appeal.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925119" y="3986510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48683" y="403212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Quality Matters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48683" y="4314527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Zero-vote placeholders artificially depressed 2022 ratings from 6.00 to 3.64. Cleaning the dataset is essential for accurate analysis.</a:t>
            </a:r>
            <a:endParaRPr lang="en-US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C1933B-EA1B-913F-BF0D-DB7D1E79CECC}"/>
              </a:ext>
            </a:extLst>
          </p:cNvPr>
          <p:cNvSpPr/>
          <p:nvPr/>
        </p:nvSpPr>
        <p:spPr>
          <a:xfrm>
            <a:off x="7986117" y="4801194"/>
            <a:ext cx="1087582" cy="335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909</Words>
  <Application>Microsoft Office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Saira Medium</vt:lpstr>
      <vt:lpstr>Roboto Bold</vt:lpstr>
      <vt:lpstr>Roboto</vt:lpstr>
      <vt:lpstr>Twemoji Mozilla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 Joshi</cp:lastModifiedBy>
  <cp:revision>2</cp:revision>
  <dcterms:created xsi:type="dcterms:W3CDTF">2026-07-04T09:31:38Z</dcterms:created>
  <dcterms:modified xsi:type="dcterms:W3CDTF">2026-07-04T09:39:28Z</dcterms:modified>
</cp:coreProperties>
</file>